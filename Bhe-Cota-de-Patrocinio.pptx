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d72b8cc-6155-8235-de2e-975699c98a02}">
          <p14:sldIdLst>
            <p14:sldId id="256"/>
            <p14:sldId id="257"/>
            <p14:sldId id="258"/>
          </p14:sldIdLst>
        </p14:section>
        <p14:section name="Antes e depois" id="{d9bd0f17-3e25-7942-1f29-107a43e6f9f9}">
          <p14:sldIdLst>
            <p14:sldId id="259"/>
            <p14:sldId id="260"/>
            <p14:sldId id="261"/>
            <p14:sldId id="262"/>
            <p14:sldId id="263"/>
          </p14:sldIdLst>
        </p14:section>
        <p14:section name="Alcance" id="{a1559df1-c5f6-1324-0ec8-302cfbf087e6}">
          <p14:sldIdLst>
            <p14:sldId id="264"/>
            <p14:sldId id="265"/>
          </p14:sldIdLst>
        </p14:section>
        <p14:section name="Proposta" id="{259ca983-10e3-faa9-54fd-bb0857ebd28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cota de patrocínio da Beauty House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 com títu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a-bhe/img/logo-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0" y="6096000"/>
            <a:ext cx="487680" cy="4196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400" kern="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92480" y="944880"/>
            <a:ext cx="9144000" cy="121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 com títul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a-bhe/img/logo-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0" y="6096000"/>
            <a:ext cx="487680" cy="4196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4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92480" y="944880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dra com títul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a-bhe/img/logo-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0" y="6096000"/>
            <a:ext cx="487680" cy="4196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4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92480" y="944880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tes e depoi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450080" y="4937760"/>
            <a:ext cx="694944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4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450080" y="5181600"/>
            <a:ext cx="694944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later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92480" y="1143000"/>
            <a:ext cx="53340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4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92480" y="1447800"/>
            <a:ext cx="53340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Área da piscina para eventos" descr="Área da piscina para ev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mbr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</p:sp>
      <p:pic>
        <p:nvPicPr>
          <p:cNvPr id="4" name="Logo Bhe" descr="Bhe. Beauty House Experi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95400"/>
            <a:ext cx="2590800" cy="2189780"/>
          </a:xfrm>
          <a:prstGeom prst="rect">
            <a:avLst/>
          </a:prstGeom>
        </p:spPr>
      </p:pic>
      <p:sp>
        <p:nvSpPr>
          <p:cNvPr id="5" name="Sobretítulo"/>
          <p:cNvSpPr txBox="1"/>
          <p:nvPr/>
        </p:nvSpPr>
        <p:spPr>
          <a:xfrm>
            <a:off x="0" y="4495800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chemeClr val="accent6"/>
                </a:solidFill>
              </a:rPr>
              <a:t>PROPOSTA COMERCIAL</a:t>
            </a:r>
            <a:endParaRPr lang="en-US" sz="1100" dirty="0"/>
          </a:p>
        </p:txBody>
      </p:sp>
      <p:sp>
        <p:nvSpPr>
          <p:cNvPr id="6" name="Título"/>
          <p:cNvSpPr txBox="1"/>
          <p:nvPr/>
        </p:nvSpPr>
        <p:spPr>
          <a:xfrm>
            <a:off x="0" y="480060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Cota de </a:t>
            </a:r>
            <a:pPr algn="ctr"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patrocínio</a:t>
            </a:r>
            <a:endParaRPr lang="en-US" sz="4600" dirty="0"/>
          </a:p>
        </p:txBody>
      </p:sp>
      <p:sp>
        <p:nvSpPr>
          <p:cNvPr id="7" name="Local"/>
          <p:cNvSpPr txBox="1"/>
          <p:nvPr/>
        </p:nvSpPr>
        <p:spPr>
          <a:xfrm>
            <a:off x="792480" y="6324600"/>
            <a:ext cx="381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chemeClr val="accent6"/>
                </a:solidFill>
              </a:rPr>
              <a:t>RIO DE JANEIRO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hada da casa Bhe ao entardecer" descr="Fachada da casa Bhe ao entarde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792480" y="1143000"/>
            <a:ext cx="533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 BHE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92480" y="1447800"/>
            <a:ext cx="533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casa que vira </a:t>
            </a:r>
            <a:pPr algn="l" indent="0" marL="0">
              <a:buNone/>
            </a:pPr>
            <a:r>
              <a:rPr lang="en-US" sz="4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</a:t>
            </a:r>
            <a:pPr algn="l" indent="0" marL="0">
              <a:buNone/>
            </a:pPr>
            <a:r>
              <a:rPr lang="en-US" sz="4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conteúdo, venda e experiência.</a:t>
            </a:r>
            <a:endParaRPr lang="en-US" sz="4600" dirty="0"/>
          </a:p>
        </p:txBody>
      </p:sp>
      <p:sp>
        <p:nvSpPr>
          <p:cNvPr id="5" name="Texto"/>
          <p:cNvSpPr txBox="1"/>
          <p:nvPr/>
        </p:nvSpPr>
        <p:spPr>
          <a:xfrm>
            <a:off x="792480" y="3962400"/>
            <a:ext cx="518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 Beauty House Experience é um hub físico de live commerce, conteúdo, cursos e eventos de beleza no Rio de Janeiro. Cada ambiente tem uma função, e a programação é distribuída em vários canais ao mesmo tempo.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O MOMENTO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92480" y="944880"/>
            <a:ext cx="914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comércio ao vivo explodiu no Brasil, e beleza lidera o D2C.</a:t>
            </a:r>
            <a:endParaRPr lang="en-US" sz="4000" dirty="0"/>
          </a:p>
        </p:txBody>
      </p:sp>
      <p:sp>
        <p:nvSpPr>
          <p:cNvPr id="4" name="Divisor 1"/>
          <p:cNvSpPr/>
          <p:nvPr/>
        </p:nvSpPr>
        <p:spPr>
          <a:xfrm>
            <a:off x="792480" y="2895600"/>
            <a:ext cx="3276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792480" y="3124200"/>
            <a:ext cx="3276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161x</a:t>
            </a:r>
            <a:endParaRPr lang="en-US" sz="4600" dirty="0"/>
          </a:p>
        </p:txBody>
      </p:sp>
      <p:sp>
        <p:nvSpPr>
          <p:cNvPr id="6" name="Legenda 1"/>
          <p:cNvSpPr txBox="1"/>
          <p:nvPr/>
        </p:nvSpPr>
        <p:spPr>
          <a:xfrm>
            <a:off x="79248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crescimento do GMV médio diário de lives no TikTok Shop, entre maio de 2025 e maio de 2026</a:t>
            </a:r>
            <a:endParaRPr lang="en-US" sz="1400" dirty="0"/>
          </a:p>
        </p:txBody>
      </p:sp>
      <p:sp>
        <p:nvSpPr>
          <p:cNvPr id="7" name="Divisor 2"/>
          <p:cNvSpPr/>
          <p:nvPr/>
        </p:nvSpPr>
        <p:spPr>
          <a:xfrm>
            <a:off x="4488180" y="2895600"/>
            <a:ext cx="3276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488180" y="3124200"/>
            <a:ext cx="3276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R$ 791 mi</a:t>
            </a:r>
            <a:endParaRPr lang="en-US" sz="4600" dirty="0"/>
          </a:p>
        </p:txBody>
      </p:sp>
      <p:sp>
        <p:nvSpPr>
          <p:cNvPr id="9" name="Legenda 2"/>
          <p:cNvSpPr txBox="1"/>
          <p:nvPr/>
        </p:nvSpPr>
        <p:spPr>
          <a:xfrm>
            <a:off x="448818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em saúde e beleza D2C em 2025, alta de 44%, uma das categorias mais dinâmicas</a:t>
            </a:r>
            <a:endParaRPr lang="en-US" sz="1400" dirty="0"/>
          </a:p>
        </p:txBody>
      </p:sp>
      <p:sp>
        <p:nvSpPr>
          <p:cNvPr id="10" name="Divisor 3"/>
          <p:cNvSpPr/>
          <p:nvPr/>
        </p:nvSpPr>
        <p:spPr>
          <a:xfrm>
            <a:off x="8183880" y="2895600"/>
            <a:ext cx="3276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Número 3"/>
          <p:cNvSpPr txBox="1"/>
          <p:nvPr/>
        </p:nvSpPr>
        <p:spPr>
          <a:xfrm>
            <a:off x="8183880" y="3124200"/>
            <a:ext cx="3276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R$ 6,5 bi</a:t>
            </a:r>
            <a:endParaRPr lang="en-US" sz="4600" dirty="0"/>
          </a:p>
        </p:txBody>
      </p:sp>
      <p:sp>
        <p:nvSpPr>
          <p:cNvPr id="12" name="Legenda 3"/>
          <p:cNvSpPr txBox="1"/>
          <p:nvPr/>
        </p:nvSpPr>
        <p:spPr>
          <a:xfrm>
            <a:off x="818388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movimentados pelo D2C brasileiro em 2025, alta de 35%</a:t>
            </a:r>
            <a:endParaRPr lang="en-US" sz="1400" dirty="0"/>
          </a:p>
        </p:txBody>
      </p:sp>
      <p:sp>
        <p:nvSpPr>
          <p:cNvPr id="13" name="Fontes"/>
          <p:cNvSpPr txBox="1"/>
          <p:nvPr/>
        </p:nvSpPr>
        <p:spPr>
          <a:xfrm>
            <a:off x="792480" y="632460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Fontes: TikTok Newsroom; Nuvemshop Radar D2C e NuvemCommerce 2026.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trine de marcas: foto real hoje" descr="Vitrine de marcas: foto real hoj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3" name="Etiqueta"/>
          <p:cNvSpPr txBox="1"/>
          <p:nvPr/>
        </p:nvSpPr>
        <p:spPr>
          <a:xfrm>
            <a:off x="243840" y="6370320"/>
            <a:ext cx="182880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HOJE · FOTO REAL</a:t>
            </a:r>
            <a:endParaRPr lang="en-US" sz="800" dirty="0"/>
          </a:p>
        </p:txBody>
      </p:sp>
      <p:pic>
        <p:nvPicPr>
          <p:cNvPr id="4" name="Vitrine de marcas: proposta de ambientação" descr="Vitrine de marcas: proposta de ambie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670560"/>
            <a:ext cx="6949440" cy="3909060"/>
          </a:xfrm>
          <a:prstGeom prst="rect">
            <a:avLst/>
          </a:prstGeom>
        </p:spPr>
      </p:pic>
      <p:sp>
        <p:nvSpPr>
          <p:cNvPr id="5" name="Etiqueta"/>
          <p:cNvSpPr txBox="1"/>
          <p:nvPr/>
        </p:nvSpPr>
        <p:spPr>
          <a:xfrm>
            <a:off x="4632960" y="4244340"/>
            <a:ext cx="301752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PROPOSTA · IMAGEM ILUSTRATIVA</a:t>
            </a:r>
            <a:endParaRPr lang="en-US" sz="8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450080" y="493776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ANTES E DEPOIS · 01 / 05</a:t>
            </a:r>
            <a:endParaRPr lang="en-US" sz="1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450080" y="518160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Vitrine de marcas</a:t>
            </a:r>
            <a:endParaRPr lang="en-US" sz="3200" dirty="0"/>
          </a:p>
        </p:txBody>
      </p:sp>
      <p:sp>
        <p:nvSpPr>
          <p:cNvPr id="8" name="Descrição"/>
          <p:cNvSpPr txBox="1"/>
          <p:nvPr/>
        </p:nvSpPr>
        <p:spPr>
          <a:xfrm>
            <a:off x="4450080" y="573024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painel de madeira e a estante recebem iluminação, produtos e o logo da Bhe. É onde fica o espaço exclusivo do patrocinador.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túdio de lives: foto real hoje" descr="Estúdio de lives: foto real hoj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3" name="Etiqueta"/>
          <p:cNvSpPr txBox="1"/>
          <p:nvPr/>
        </p:nvSpPr>
        <p:spPr>
          <a:xfrm>
            <a:off x="243840" y="6370320"/>
            <a:ext cx="182880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HOJE · FOTO REAL</a:t>
            </a:r>
            <a:endParaRPr lang="en-US" sz="800" dirty="0"/>
          </a:p>
        </p:txBody>
      </p:sp>
      <p:pic>
        <p:nvPicPr>
          <p:cNvPr id="4" name="Estúdio de lives: proposta de ambientação" descr="Estúdio de lives: proposta de ambie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670560"/>
            <a:ext cx="6949440" cy="3909060"/>
          </a:xfrm>
          <a:prstGeom prst="rect">
            <a:avLst/>
          </a:prstGeom>
        </p:spPr>
      </p:pic>
      <p:sp>
        <p:nvSpPr>
          <p:cNvPr id="5" name="Etiqueta"/>
          <p:cNvSpPr txBox="1"/>
          <p:nvPr/>
        </p:nvSpPr>
        <p:spPr>
          <a:xfrm>
            <a:off x="4632960" y="4244340"/>
            <a:ext cx="301752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PROPOSTA · IMAGEM ILUSTRATIVA</a:t>
            </a:r>
            <a:endParaRPr lang="en-US" sz="8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450080" y="493776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ANTES E DEPOIS · 02 / 05</a:t>
            </a:r>
            <a:endParaRPr lang="en-US" sz="1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450080" y="518160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Estúdio de lives</a:t>
            </a:r>
            <a:endParaRPr lang="en-US" sz="3200" dirty="0"/>
          </a:p>
        </p:txBody>
      </p:sp>
      <p:sp>
        <p:nvSpPr>
          <p:cNvPr id="8" name="Descrição"/>
          <p:cNvSpPr txBox="1"/>
          <p:nvPr/>
        </p:nvSpPr>
        <p:spPr>
          <a:xfrm>
            <a:off x="4450080" y="573024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lounge vira bancada de maquiagem com iluminação de estúdio, câmera e vitrine de produtos ao fundo.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túdio de entrevistas: foto real hoje" descr="Estúdio de entrevistas: foto real hoj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3" name="Etiqueta"/>
          <p:cNvSpPr txBox="1"/>
          <p:nvPr/>
        </p:nvSpPr>
        <p:spPr>
          <a:xfrm>
            <a:off x="243840" y="6370320"/>
            <a:ext cx="182880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HOJE · FOTO REAL</a:t>
            </a:r>
            <a:endParaRPr lang="en-US" sz="800" dirty="0"/>
          </a:p>
        </p:txBody>
      </p:sp>
      <p:pic>
        <p:nvPicPr>
          <p:cNvPr id="4" name="Estúdio de entrevistas: proposta de ambientação" descr="Estúdio de entrevistas: proposta de ambie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670560"/>
            <a:ext cx="6949440" cy="3909060"/>
          </a:xfrm>
          <a:prstGeom prst="rect">
            <a:avLst/>
          </a:prstGeom>
        </p:spPr>
      </p:pic>
      <p:sp>
        <p:nvSpPr>
          <p:cNvPr id="5" name="Etiqueta"/>
          <p:cNvSpPr txBox="1"/>
          <p:nvPr/>
        </p:nvSpPr>
        <p:spPr>
          <a:xfrm>
            <a:off x="4632960" y="4244340"/>
            <a:ext cx="301752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PROPOSTA · IMAGEM ILUSTRATIVA</a:t>
            </a:r>
            <a:endParaRPr lang="en-US" sz="8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450080" y="493776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ANTES E DEPOIS · 03 / 05</a:t>
            </a:r>
            <a:endParaRPr lang="en-US" sz="1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450080" y="518160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Estúdio de entrevistas</a:t>
            </a:r>
            <a:endParaRPr lang="en-US" sz="3200" dirty="0"/>
          </a:p>
        </p:txBody>
      </p:sp>
      <p:sp>
        <p:nvSpPr>
          <p:cNvPr id="8" name="Descrição"/>
          <p:cNvSpPr txBox="1"/>
          <p:nvPr/>
        </p:nvSpPr>
        <p:spPr>
          <a:xfrm>
            <a:off x="4450080" y="573024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sala com teto preto e vista para a varanda recebe poltronas, microfones e a marca na parede de madeira.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la de cursos: foto real hoje" descr="Sala de cursos: foto real hoj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3" name="Etiqueta"/>
          <p:cNvSpPr txBox="1"/>
          <p:nvPr/>
        </p:nvSpPr>
        <p:spPr>
          <a:xfrm>
            <a:off x="243840" y="6370320"/>
            <a:ext cx="182880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HOJE · FOTO REAL</a:t>
            </a:r>
            <a:endParaRPr lang="en-US" sz="800" dirty="0"/>
          </a:p>
        </p:txBody>
      </p:sp>
      <p:pic>
        <p:nvPicPr>
          <p:cNvPr id="4" name="Sala de cursos: proposta de ambientação" descr="Sala de cursos: proposta de ambie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670560"/>
            <a:ext cx="6949440" cy="3909060"/>
          </a:xfrm>
          <a:prstGeom prst="rect">
            <a:avLst/>
          </a:prstGeom>
        </p:spPr>
      </p:pic>
      <p:sp>
        <p:nvSpPr>
          <p:cNvPr id="5" name="Etiqueta"/>
          <p:cNvSpPr txBox="1"/>
          <p:nvPr/>
        </p:nvSpPr>
        <p:spPr>
          <a:xfrm>
            <a:off x="4632960" y="4244340"/>
            <a:ext cx="301752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PROPOSTA · IMAGEM ILUSTRATIVA</a:t>
            </a:r>
            <a:endParaRPr lang="en-US" sz="8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450080" y="493776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ANTES E DEPOIS · 04 / 05</a:t>
            </a:r>
            <a:endParaRPr lang="en-US" sz="1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450080" y="518160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de cursos</a:t>
            </a:r>
            <a:endParaRPr lang="en-US" sz="3200" dirty="0"/>
          </a:p>
        </p:txBody>
      </p:sp>
      <p:sp>
        <p:nvSpPr>
          <p:cNvPr id="8" name="Descrição"/>
          <p:cNvSpPr txBox="1"/>
          <p:nvPr/>
        </p:nvSpPr>
        <p:spPr>
          <a:xfrm>
            <a:off x="4450080" y="573024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salão amplo comporta plateia, tela e bancada de demonstração para os cursos educacionais mensais.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Área de eventos: foto real hoje" descr="Área de eventos: foto real hoj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3" name="Etiqueta"/>
          <p:cNvSpPr txBox="1"/>
          <p:nvPr/>
        </p:nvSpPr>
        <p:spPr>
          <a:xfrm>
            <a:off x="243840" y="6370320"/>
            <a:ext cx="182880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HOJE · FOTO REAL</a:t>
            </a:r>
            <a:endParaRPr lang="en-US" sz="800" dirty="0"/>
          </a:p>
        </p:txBody>
      </p:sp>
      <p:pic>
        <p:nvPicPr>
          <p:cNvPr id="4" name="Área de eventos: proposta de ambientação" descr="Área de eventos: proposta de ambie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670560"/>
            <a:ext cx="6949440" cy="3909060"/>
          </a:xfrm>
          <a:prstGeom prst="rect">
            <a:avLst/>
          </a:prstGeom>
        </p:spPr>
      </p:pic>
      <p:sp>
        <p:nvSpPr>
          <p:cNvPr id="5" name="Etiqueta"/>
          <p:cNvSpPr txBox="1"/>
          <p:nvPr/>
        </p:nvSpPr>
        <p:spPr>
          <a:xfrm>
            <a:off x="4632960" y="4244340"/>
            <a:ext cx="3017520" cy="24384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bg1"/>
                </a:solidFill>
              </a:rPr>
              <a:t>PROPOSTA · IMAGEM ILUSTRATIVA</a:t>
            </a:r>
            <a:endParaRPr lang="en-US" sz="8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450080" y="493776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ANTES E DEPOIS · 05 / 05</a:t>
            </a:r>
            <a:endParaRPr lang="en-US" sz="1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450080" y="518160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de eventos</a:t>
            </a:r>
            <a:endParaRPr lang="en-US" sz="3200" dirty="0"/>
          </a:p>
        </p:txBody>
      </p:sp>
      <p:sp>
        <p:nvSpPr>
          <p:cNvPr id="8" name="Descrição"/>
          <p:cNvSpPr txBox="1"/>
          <p:nvPr/>
        </p:nvSpPr>
        <p:spPr>
          <a:xfrm>
            <a:off x="4450080" y="573024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piscina e o muro do fundo viram palco para lançamentos, com espreguiçadeiras, iluminação e mesa de produtos.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túdio de lives" descr="Estúdio de li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mbr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DISTRIBUIÇÃO</a:t>
            </a:r>
            <a:endParaRPr lang="en-US" sz="1000" dirty="0"/>
          </a:p>
        </p:txBody>
      </p:sp>
      <p:sp>
        <p:nvSpPr>
          <p:cNvPr id="5" name="Text 0"/>
          <p:cNvSpPr/>
          <p:nvPr>
            <p:ph idx="102" type="title" hasCustomPrompt="1"/>
          </p:nvPr>
        </p:nvSpPr>
        <p:spPr>
          <a:xfrm>
            <a:off x="792480" y="944880"/>
            <a:ext cx="914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conteúdo, muitos canais</a:t>
            </a:r>
            <a:endParaRPr lang="en-US" sz="4000" dirty="0"/>
          </a:p>
        </p:txBody>
      </p:sp>
      <p:sp>
        <p:nvSpPr>
          <p:cNvPr id="6" name="Canais"/>
          <p:cNvSpPr txBox="1"/>
          <p:nvPr/>
        </p:nvSpPr>
        <p:spPr>
          <a:xfrm>
            <a:off x="792480" y="2209800"/>
            <a:ext cx="533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 Shop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Shopee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Livre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Canais próprios</a:t>
            </a:r>
            <a:endParaRPr lang="en-US" sz="3800" dirty="0"/>
          </a:p>
        </p:txBody>
      </p:sp>
      <p:sp>
        <p:nvSpPr>
          <p:cNvPr id="7" name="Apresentadores"/>
          <p:cNvSpPr txBox="1"/>
          <p:nvPr/>
        </p:nvSpPr>
        <p:spPr>
          <a:xfrm>
            <a:off x="8199120" y="5486400"/>
            <a:ext cx="320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Fundadores, microinfluenciadores e grandes influenciadores apresentam a programação da casa.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EVENTOS BHE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92480" y="944880"/>
            <a:ext cx="914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experiência Bhe já </a:t>
            </a:r>
            <a:pPr algn="l" indent="0" marL="0">
              <a:buNone/>
            </a:pPr>
            <a:r>
              <a:rPr lang="en-US" sz="4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aconteceu</a:t>
            </a:r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o"/>
          <p:cNvSpPr txBox="1"/>
          <p:nvPr/>
        </p:nvSpPr>
        <p:spPr>
          <a:xfrm>
            <a:off x="792480" y="2514600"/>
            <a:ext cx="36576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Hair stylists, workshops ao vivo, luau, passeios e convidados no Rio de Janeiro. O formato atrai público e gera conteúdo. A casa transforma esses eventos em agenda contínua.</a:t>
            </a:r>
            <a:endParaRPr lang="en-US" sz="1500" dirty="0"/>
          </a:p>
        </p:txBody>
      </p:sp>
      <p:pic>
        <p:nvPicPr>
          <p:cNvPr id="5" name="Evento Bhe ao pôr do sol" descr="Evento Bhe ao pôr do 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286000"/>
            <a:ext cx="6278880" cy="353568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5120640" y="5974080"/>
            <a:ext cx="627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</a:rPr>
              <a:t>REGISTRO · BEAUTY HOUSE EXPERIENCE · RIO DE JANEIRO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CONTRAPARTIDAS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92480" y="944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sua marca recebe</a:t>
            </a:r>
            <a:endParaRPr lang="en-US" sz="4000" dirty="0"/>
          </a:p>
        </p:txBody>
      </p:sp>
      <p:pic>
        <p:nvPicPr>
          <p:cNvPr id="4" name="Espaço exclusivo na casa" descr="Espaço exclusivo na ca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905000"/>
            <a:ext cx="3329940" cy="2133600"/>
          </a:xfrm>
          <a:prstGeom prst="rect">
            <a:avLst/>
          </a:prstGeom>
        </p:spPr>
      </p:pic>
      <p:sp>
        <p:nvSpPr>
          <p:cNvPr id="5" name="Número 1"/>
          <p:cNvSpPr txBox="1"/>
          <p:nvPr/>
        </p:nvSpPr>
        <p:spPr>
          <a:xfrm>
            <a:off x="792480" y="4229100"/>
            <a:ext cx="33299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Contrapartida 1"/>
          <p:cNvSpPr txBox="1"/>
          <p:nvPr/>
        </p:nvSpPr>
        <p:spPr>
          <a:xfrm>
            <a:off x="792480" y="4457700"/>
            <a:ext cx="33299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Espaço exclusivo na casa</a:t>
            </a:r>
            <a:endParaRPr lang="en-US" sz="1900" dirty="0"/>
          </a:p>
        </p:txBody>
      </p:sp>
      <p:sp>
        <p:nvSpPr>
          <p:cNvPr id="7" name="Descrição 1"/>
          <p:cNvSpPr txBox="1"/>
          <p:nvPr/>
        </p:nvSpPr>
        <p:spPr>
          <a:xfrm>
            <a:off x="792480" y="4953000"/>
            <a:ext cx="3200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Um ambiente dedicado à marca dentro da Bhe, com os seus produtos em exposição permanente.</a:t>
            </a:r>
            <a:endParaRPr lang="en-US" sz="1400" dirty="0"/>
          </a:p>
        </p:txBody>
      </p:sp>
      <p:pic>
        <p:nvPicPr>
          <p:cNvPr id="8" name="Presença nas lives" descr="Presença nas li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220" y="1905000"/>
            <a:ext cx="3329940" cy="2133600"/>
          </a:xfrm>
          <a:prstGeom prst="rect">
            <a:avLst/>
          </a:prstGeom>
        </p:spPr>
      </p:pic>
      <p:sp>
        <p:nvSpPr>
          <p:cNvPr id="9" name="Número 2"/>
          <p:cNvSpPr txBox="1"/>
          <p:nvPr/>
        </p:nvSpPr>
        <p:spPr>
          <a:xfrm>
            <a:off x="4427220" y="4229100"/>
            <a:ext cx="33299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Contrapartida 2"/>
          <p:cNvSpPr txBox="1"/>
          <p:nvPr/>
        </p:nvSpPr>
        <p:spPr>
          <a:xfrm>
            <a:off x="4427220" y="4457700"/>
            <a:ext cx="33299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 nas lives</a:t>
            </a:r>
            <a:endParaRPr lang="en-US" sz="1900" dirty="0"/>
          </a:p>
        </p:txBody>
      </p:sp>
      <p:sp>
        <p:nvSpPr>
          <p:cNvPr id="11" name="Descrição 2"/>
          <p:cNvSpPr txBox="1"/>
          <p:nvPr/>
        </p:nvSpPr>
        <p:spPr>
          <a:xfrm>
            <a:off x="4427220" y="4953000"/>
            <a:ext cx="3200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marca aparece nas transmissões ao vivo da casa, nos canais em que a Bhe está presente.</a:t>
            </a:r>
            <a:endParaRPr lang="en-US" sz="1400" dirty="0"/>
          </a:p>
        </p:txBody>
      </p:sp>
      <p:pic>
        <p:nvPicPr>
          <p:cNvPr id="12" name="Um curso educacional por mês" descr="Um curso educacional por mê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960" y="1905000"/>
            <a:ext cx="3329940" cy="2133600"/>
          </a:xfrm>
          <a:prstGeom prst="rect">
            <a:avLst/>
          </a:prstGeom>
        </p:spPr>
      </p:pic>
      <p:sp>
        <p:nvSpPr>
          <p:cNvPr id="13" name="Número 3"/>
          <p:cNvSpPr txBox="1"/>
          <p:nvPr/>
        </p:nvSpPr>
        <p:spPr>
          <a:xfrm>
            <a:off x="8061960" y="4229100"/>
            <a:ext cx="33299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Contrapartida 3"/>
          <p:cNvSpPr txBox="1"/>
          <p:nvPr/>
        </p:nvSpPr>
        <p:spPr>
          <a:xfrm>
            <a:off x="8061960" y="4457700"/>
            <a:ext cx="33299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curso educacional por mês</a:t>
            </a:r>
            <a:endParaRPr lang="en-US" sz="1900" dirty="0"/>
          </a:p>
        </p:txBody>
      </p:sp>
      <p:sp>
        <p:nvSpPr>
          <p:cNvPr id="15" name="Descrição 3"/>
          <p:cNvSpPr txBox="1"/>
          <p:nvPr/>
        </p:nvSpPr>
        <p:spPr>
          <a:xfrm>
            <a:off x="8061960" y="4953000"/>
            <a:ext cx="3200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Todo mês, um curso na sala de cursos da casa com a participação da marca.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2480" y="67056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INVESTIMENTO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92480" y="944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cota de patrocínio</a:t>
            </a:r>
            <a:endParaRPr lang="en-US" sz="4000" dirty="0"/>
          </a:p>
        </p:txBody>
      </p:sp>
      <p:sp>
        <p:nvSpPr>
          <p:cNvPr id="4" name="Subtítulo"/>
          <p:cNvSpPr txBox="1"/>
          <p:nvPr/>
        </p:nvSpPr>
        <p:spPr>
          <a:xfrm>
            <a:off x="792480" y="1600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Duas formas de pagamento para 12 meses de patrocínio com as mesmas contrapartidas.</a:t>
            </a:r>
            <a:endParaRPr lang="en-US" sz="1600" dirty="0"/>
          </a:p>
        </p:txBody>
      </p:sp>
      <p:sp>
        <p:nvSpPr>
          <p:cNvPr id="5" name="Opção 1 · Mensal"/>
          <p:cNvSpPr/>
          <p:nvPr/>
        </p:nvSpPr>
        <p:spPr>
          <a:xfrm>
            <a:off x="792480" y="2286000"/>
            <a:ext cx="5120640" cy="3352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Opção 1 · Mensal · rótulo"/>
          <p:cNvSpPr txBox="1"/>
          <p:nvPr/>
        </p:nvSpPr>
        <p:spPr>
          <a:xfrm>
            <a:off x="1188720" y="2651760"/>
            <a:ext cx="426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OPÇÃO 1 · MENSAL</a:t>
            </a:r>
            <a:endParaRPr lang="en-US" sz="1000" dirty="0"/>
          </a:p>
        </p:txBody>
      </p:sp>
      <p:sp>
        <p:nvSpPr>
          <p:cNvPr id="7" name="Opção 1 · Mensal · valor"/>
          <p:cNvSpPr txBox="1"/>
          <p:nvPr/>
        </p:nvSpPr>
        <p:spPr>
          <a:xfrm>
            <a:off x="1188720" y="2971800"/>
            <a:ext cx="441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R$ 120 mil</a:t>
            </a:r>
            <a:endParaRPr lang="en-US" sz="5400" dirty="0"/>
          </a:p>
        </p:txBody>
      </p:sp>
      <p:sp>
        <p:nvSpPr>
          <p:cNvPr id="8" name="Opção 1 · Mensal · divisor"/>
          <p:cNvSpPr/>
          <p:nvPr/>
        </p:nvSpPr>
        <p:spPr>
          <a:xfrm>
            <a:off x="1188720" y="4267200"/>
            <a:ext cx="43281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Opção 1 · Mensal · Parcelas"/>
          <p:cNvSpPr txBox="1"/>
          <p:nvPr/>
        </p:nvSpPr>
        <p:spPr>
          <a:xfrm>
            <a:off x="1188720" y="44958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Parcelas</a:t>
            </a:r>
            <a:endParaRPr lang="en-US" sz="1600" dirty="0"/>
          </a:p>
        </p:txBody>
      </p:sp>
      <p:sp>
        <p:nvSpPr>
          <p:cNvPr id="10" name="Opção 1 · Mensal · Parcelas valor"/>
          <p:cNvSpPr txBox="1"/>
          <p:nvPr/>
        </p:nvSpPr>
        <p:spPr>
          <a:xfrm>
            <a:off x="2865120" y="4495800"/>
            <a:ext cx="2651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× R$ 10 mil</a:t>
            </a:r>
            <a:endParaRPr lang="en-US" sz="1600" dirty="0"/>
          </a:p>
        </p:txBody>
      </p:sp>
      <p:sp>
        <p:nvSpPr>
          <p:cNvPr id="11" name="Opção 1 · Mensal · Pagamento"/>
          <p:cNvSpPr txBox="1"/>
          <p:nvPr/>
        </p:nvSpPr>
        <p:spPr>
          <a:xfrm>
            <a:off x="1188720" y="489204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Pagamento</a:t>
            </a:r>
            <a:endParaRPr lang="en-US" sz="1600" dirty="0"/>
          </a:p>
        </p:txBody>
      </p:sp>
      <p:sp>
        <p:nvSpPr>
          <p:cNvPr id="12" name="Opção 1 · Mensal · Pagamento valor"/>
          <p:cNvSpPr txBox="1"/>
          <p:nvPr/>
        </p:nvSpPr>
        <p:spPr>
          <a:xfrm>
            <a:off x="2865120" y="4892040"/>
            <a:ext cx="2651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mensal, durante 1 ano</a:t>
            </a:r>
            <a:endParaRPr lang="en-US" sz="1600" dirty="0"/>
          </a:p>
        </p:txBody>
      </p:sp>
      <p:sp>
        <p:nvSpPr>
          <p:cNvPr id="13" name="Opção 2 · Antecipado"/>
          <p:cNvSpPr/>
          <p:nvPr/>
        </p:nvSpPr>
        <p:spPr>
          <a:xfrm>
            <a:off x="6278880" y="2286000"/>
            <a:ext cx="5120640" cy="33528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Opção 2 · Antecipado · rótulo"/>
          <p:cNvSpPr txBox="1"/>
          <p:nvPr/>
        </p:nvSpPr>
        <p:spPr>
          <a:xfrm>
            <a:off x="6675120" y="2651760"/>
            <a:ext cx="426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OPÇÃO 2 · ANTECIPADO</a:t>
            </a:r>
            <a:endParaRPr lang="en-US" sz="1000" dirty="0"/>
          </a:p>
        </p:txBody>
      </p:sp>
      <p:sp>
        <p:nvSpPr>
          <p:cNvPr id="15" name="Opção 2 · Antecipado · valor"/>
          <p:cNvSpPr txBox="1"/>
          <p:nvPr/>
        </p:nvSpPr>
        <p:spPr>
          <a:xfrm>
            <a:off x="6675120" y="2971800"/>
            <a:ext cx="441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R$ 100 mil</a:t>
            </a:r>
            <a:endParaRPr lang="en-US" sz="5400" dirty="0"/>
          </a:p>
        </p:txBody>
      </p:sp>
      <p:sp>
        <p:nvSpPr>
          <p:cNvPr id="16" name="Opção 2 · Antecipado · divisor"/>
          <p:cNvSpPr/>
          <p:nvPr/>
        </p:nvSpPr>
        <p:spPr>
          <a:xfrm>
            <a:off x="6675120" y="4267200"/>
            <a:ext cx="4328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Opção 2 · Antecipado · Parcelas"/>
          <p:cNvSpPr txBox="1"/>
          <p:nvPr/>
        </p:nvSpPr>
        <p:spPr>
          <a:xfrm>
            <a:off x="6675120" y="44958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Parcelas</a:t>
            </a:r>
            <a:endParaRPr lang="en-US" sz="1600" dirty="0"/>
          </a:p>
        </p:txBody>
      </p:sp>
      <p:sp>
        <p:nvSpPr>
          <p:cNvPr id="18" name="Opção 2 · Antecipado · Parcelas valor"/>
          <p:cNvSpPr txBox="1"/>
          <p:nvPr/>
        </p:nvSpPr>
        <p:spPr>
          <a:xfrm>
            <a:off x="8351520" y="4495800"/>
            <a:ext cx="2651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à vista ou em até 3 vezes</a:t>
            </a:r>
            <a:endParaRPr lang="en-US" sz="1600" dirty="0"/>
          </a:p>
        </p:txBody>
      </p:sp>
      <p:sp>
        <p:nvSpPr>
          <p:cNvPr id="19" name="Opção 2 · Antecipado · Economia"/>
          <p:cNvSpPr txBox="1"/>
          <p:nvPr/>
        </p:nvSpPr>
        <p:spPr>
          <a:xfrm>
            <a:off x="6675120" y="489204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Economia</a:t>
            </a:r>
            <a:endParaRPr lang="en-US" sz="1600" dirty="0"/>
          </a:p>
        </p:txBody>
      </p:sp>
      <p:sp>
        <p:nvSpPr>
          <p:cNvPr id="20" name="Opção 2 · Antecipado · Economia valor"/>
          <p:cNvSpPr txBox="1"/>
          <p:nvPr/>
        </p:nvSpPr>
        <p:spPr>
          <a:xfrm>
            <a:off x="8351520" y="4892040"/>
            <a:ext cx="2651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R$ 20 mil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túdio de entrevistas" descr="Estúdio de entrevis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mbr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/>
        </p:spPr>
      </p:sp>
      <p:pic>
        <p:nvPicPr>
          <p:cNvPr id="4" name="Logo Bhe" descr="Bh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57400"/>
            <a:ext cx="2743200" cy="2743200"/>
          </a:xfrm>
          <a:prstGeom prst="ellipse">
            <a:avLst/>
          </a:prstGeom>
        </p:spPr>
      </p:pic>
      <p:sp>
        <p:nvSpPr>
          <p:cNvPr id="5" name="Sobretítulo"/>
          <p:cNvSpPr txBox="1"/>
          <p:nvPr/>
        </p:nvSpPr>
        <p:spPr>
          <a:xfrm>
            <a:off x="5791200" y="2057400"/>
            <a:ext cx="533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O CONVITE</a:t>
            </a:r>
            <a:endParaRPr lang="en-US" sz="1000" dirty="0"/>
          </a:p>
        </p:txBody>
      </p:sp>
      <p:sp>
        <p:nvSpPr>
          <p:cNvPr id="6" name="Título"/>
          <p:cNvSpPr txBox="1"/>
          <p:nvPr/>
        </p:nvSpPr>
        <p:spPr>
          <a:xfrm>
            <a:off x="5791200" y="2362200"/>
            <a:ext cx="563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marca dentro da casa Bhe.</a:t>
            </a:r>
            <a:endParaRPr lang="en-US" sz="4600" dirty="0"/>
          </a:p>
        </p:txBody>
      </p:sp>
      <p:sp>
        <p:nvSpPr>
          <p:cNvPr id="7" name="Resumo"/>
          <p:cNvSpPr txBox="1"/>
          <p:nvPr/>
        </p:nvSpPr>
        <p:spPr>
          <a:xfrm>
            <a:off x="5791200" y="3886200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Espaço exclusivo, presença nas lives e um curso por mês, durante 12 meses.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he">
  <a:themeElements>
    <a:clrScheme name="Bhe">
      <a:dk1>
        <a:srgbClr val="0B0B0B"/>
      </a:dk1>
      <a:lt1>
        <a:srgbClr val="FFFFFF"/>
      </a:lt1>
      <a:dk2>
        <a:srgbClr val="3B3935"/>
      </a:dk2>
      <a:lt2>
        <a:srgbClr val="ECEBE8"/>
      </a:lt2>
      <a:accent1>
        <a:srgbClr val="9A6D4B"/>
      </a:accent1>
      <a:accent2>
        <a:srgbClr val="77736D"/>
      </a:accent2>
      <a:accent3>
        <a:srgbClr val="C9B79C"/>
      </a:accent3>
      <a:accent4>
        <a:srgbClr val="5E5A55"/>
      </a:accent4>
      <a:accent5>
        <a:srgbClr val="B08A6A"/>
      </a:accent5>
      <a:accent6>
        <a:srgbClr val="D9D5CF"/>
      </a:accent6>
      <a:hlink>
        <a:srgbClr val="9A6D4B"/>
      </a:hlink>
      <a:folHlink>
        <a:srgbClr val="77736D"/>
      </a:folHlink>
    </a:clrScheme>
    <a:fontScheme name="Bh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Bhe · Cota de patrocínio</dc:title>
  <dc:subject>PptxGenJS Presentation</dc:subject>
  <dc:creator>Beauty House Experience</dc:creator>
  <cp:lastModifiedBy>Beauty House Experience</cp:lastModifiedBy>
  <cp:revision>1</cp:revision>
  <dcterms:created xsi:type="dcterms:W3CDTF">2026-10-02T17:23:53Z</dcterms:created>
  <dcterms:modified xsi:type="dcterms:W3CDTF">2026-10-02T17:23:53Z</dcterms:modified>
</cp:coreProperties>
</file>